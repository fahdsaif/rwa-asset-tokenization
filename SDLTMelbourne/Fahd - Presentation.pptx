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0o8inmBqHguFzn9CCxbQMHHZd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2c0caa9c20b71469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g2c0caa9c20b71469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g2c0caa9c20b71469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0db582656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3a0db58265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a0db582656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0db582656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0db58265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3a0db582656_0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0db582656_0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0db58265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3a0db582656_0_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c0caa9c20b71469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c0caa9c20b7146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2c0caa9c20b71469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0db582656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a0db5826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a0db582656_0_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0db582656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0db58265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a0db582656_0_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c0caa9c20b71469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c0caa9c20b71469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2c0caa9c20b71469_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0db582656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a0db58265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a0db582656_0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0db582656_0_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0db5826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a0db582656_0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0db582656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a0db58265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a0db582656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db582656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db58265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a0db582656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0db582656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0db58265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a0db582656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slide">
  <p:cSld name="Cover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over slide&#10;Image of Griffith building interior" id="13" name="Google Shape;13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4" y="0"/>
            <a:ext cx="9142851" cy="5142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4"/>
          <p:cNvSpPr txBox="1"/>
          <p:nvPr>
            <p:ph type="title"/>
          </p:nvPr>
        </p:nvSpPr>
        <p:spPr>
          <a:xfrm>
            <a:off x="457200" y="4198478"/>
            <a:ext cx="6417425" cy="34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1" i="0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57200" y="4629115"/>
            <a:ext cx="641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background with Griffith University logo" id="17" name="Google Shape;1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" y="150632"/>
            <a:ext cx="9142855" cy="514285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5"/>
          <p:cNvSpPr txBox="1"/>
          <p:nvPr>
            <p:ph idx="1" type="body"/>
          </p:nvPr>
        </p:nvSpPr>
        <p:spPr>
          <a:xfrm>
            <a:off x="457200" y="973185"/>
            <a:ext cx="8229600" cy="349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type="title"/>
          </p:nvPr>
        </p:nvSpPr>
        <p:spPr>
          <a:xfrm>
            <a:off x="457200" y="455816"/>
            <a:ext cx="8229600" cy="34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251D"/>
              </a:buClr>
              <a:buSzPts val="2800"/>
              <a:buFont typeface="Arial"/>
              <a:buNone/>
              <a:defRPr>
                <a:solidFill>
                  <a:srgbClr val="EC251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2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 background with Griffith University logo" id="21" name="Google Shape;2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2" y="643"/>
            <a:ext cx="9142855" cy="514285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"/>
          <p:cNvSpPr txBox="1"/>
          <p:nvPr>
            <p:ph idx="1" type="body"/>
          </p:nvPr>
        </p:nvSpPr>
        <p:spPr>
          <a:xfrm>
            <a:off x="457200" y="973185"/>
            <a:ext cx="8229600" cy="349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type="title"/>
          </p:nvPr>
        </p:nvSpPr>
        <p:spPr>
          <a:xfrm>
            <a:off x="457200" y="455816"/>
            <a:ext cx="8229600" cy="34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End slid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74" y="0"/>
            <a:ext cx="9142851" cy="5142853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8"/>
          <p:cNvSpPr txBox="1"/>
          <p:nvPr>
            <p:ph idx="1" type="body"/>
          </p:nvPr>
        </p:nvSpPr>
        <p:spPr>
          <a:xfrm>
            <a:off x="457199" y="851475"/>
            <a:ext cx="4026701" cy="30915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i="0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455816"/>
            <a:ext cx="8229600" cy="34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251D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EC251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973185"/>
            <a:ext cx="8229600" cy="349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"/>
          <p:cNvSpPr txBox="1"/>
          <p:nvPr>
            <p:ph idx="1" type="body"/>
          </p:nvPr>
        </p:nvSpPr>
        <p:spPr>
          <a:xfrm>
            <a:off x="567811" y="4342147"/>
            <a:ext cx="6417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20000"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/>
              <a:t>Fahd </a:t>
            </a:r>
            <a:endParaRPr b="1"/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/>
              <a:t>Co Authors &lt;Placeholder&gt;</a:t>
            </a:r>
            <a:endParaRPr b="1"/>
          </a:p>
        </p:txBody>
      </p:sp>
      <p:sp>
        <p:nvSpPr>
          <p:cNvPr id="34" name="Google Shape;34;p1"/>
          <p:cNvSpPr txBox="1"/>
          <p:nvPr/>
        </p:nvSpPr>
        <p:spPr>
          <a:xfrm>
            <a:off x="943897" y="1877738"/>
            <a:ext cx="7138200" cy="708000"/>
          </a:xfrm>
          <a:prstGeom prst="rect">
            <a:avLst/>
          </a:prstGeom>
          <a:solidFill>
            <a:srgbClr val="C02424">
              <a:alpha val="8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</a:rPr>
              <a:t>Bringing Real World Assets On-Chain: How Traditional Finance Meets Decentralised Systems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idx="1" type="body"/>
          </p:nvPr>
        </p:nvSpPr>
        <p:spPr>
          <a:xfrm>
            <a:off x="920203" y="619111"/>
            <a:ext cx="7303593" cy="403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Real-World Asset (RWA) Tokenisation transforms physical/financial assets into blockchain-based representations.</a:t>
            </a:r>
            <a:endParaRPr sz="19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Enables fractional ownership, programmability, and liquidity.</a:t>
            </a:r>
            <a:endParaRPr sz="19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</a:rPr>
              <a:t>Market projected to reach multi-trillion USD by 2030.</a:t>
            </a:r>
            <a:endParaRPr sz="1900"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Challenge: bridging trust, legality, and compliance between TradFi and DeFi.</a:t>
            </a:r>
            <a:endParaRPr sz="1900">
              <a:solidFill>
                <a:srgbClr val="212121"/>
              </a:solidFill>
            </a:endParaRPr>
          </a:p>
          <a:p>
            <a:pPr indent="0" lvl="0" marL="45720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74295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>
            <p:ph type="title"/>
          </p:nvPr>
        </p:nvSpPr>
        <p:spPr>
          <a:xfrm>
            <a:off x="222637" y="196852"/>
            <a:ext cx="8816671" cy="3497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251D"/>
              </a:buClr>
              <a:buSzPts val="2000"/>
              <a:buFont typeface="Arial"/>
              <a:buNone/>
            </a:pPr>
            <a:r>
              <a:rPr lang="en-US" sz="2000"/>
              <a:t>Why Real-World Asset (RWA) Tokenisation Matters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2c0caa9c20b71469_7"/>
          <p:cNvSpPr txBox="1"/>
          <p:nvPr>
            <p:ph idx="1" type="body"/>
          </p:nvPr>
        </p:nvSpPr>
        <p:spPr>
          <a:xfrm>
            <a:off x="457200" y="973185"/>
            <a:ext cx="8229600" cy="34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2c0caa9c20b71469_7"/>
          <p:cNvSpPr txBox="1"/>
          <p:nvPr>
            <p:ph type="title"/>
          </p:nvPr>
        </p:nvSpPr>
        <p:spPr>
          <a:xfrm>
            <a:off x="457200" y="455816"/>
            <a:ext cx="8229600" cy="34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3a0db582656_0_29" title="Screen Shot 2025-11-06 at 4.29.35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00" y="566550"/>
            <a:ext cx="8821200" cy="40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a0db582656_0_64"/>
          <p:cNvSpPr txBox="1"/>
          <p:nvPr>
            <p:ph idx="1" type="body"/>
          </p:nvPr>
        </p:nvSpPr>
        <p:spPr>
          <a:xfrm>
            <a:off x="457200" y="1487676"/>
            <a:ext cx="8229600" cy="29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/>
              <a:t>Fragmented legal and regulatory environments across jurisdictions.</a:t>
            </a:r>
            <a:br>
              <a:rPr lang="en-US" sz="1900"/>
            </a:br>
            <a:r>
              <a:rPr lang="en-US" sz="1900"/>
              <a:t>Lack of trusted verification for off-chain assets.</a:t>
            </a:r>
            <a:endParaRPr sz="19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➢"/>
            </a:pPr>
            <a:r>
              <a:rPr lang="en-US" sz="1900"/>
              <a:t>Limited interoperability between DeFi and institutional systems.</a:t>
            </a:r>
            <a:endParaRPr sz="1900"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➢"/>
            </a:pPr>
            <a:r>
              <a:rPr lang="en-US" sz="1900"/>
              <a:t>Absence of a unified compliance enforcement model.</a:t>
            </a:r>
            <a:endParaRPr sz="1900"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61" name="Google Shape;61;g3a0db582656_0_64"/>
          <p:cNvSpPr txBox="1"/>
          <p:nvPr>
            <p:ph type="title"/>
          </p:nvPr>
        </p:nvSpPr>
        <p:spPr>
          <a:xfrm>
            <a:off x="457200" y="455824"/>
            <a:ext cx="8229600" cy="74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Landscape -Challenges in Bringing Real-World Assets On-Chain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g3a0db582656_0_73" title="Screen Shot 2025-11-06 at 4.39.5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0025"/>
            <a:ext cx="8839198" cy="2886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g2c0caa9c20b71469_0" title="Screen Shot 2025-11-07 at 7.26.4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625" y="245638"/>
            <a:ext cx="6651101" cy="448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0db582656_0_1"/>
          <p:cNvSpPr txBox="1"/>
          <p:nvPr>
            <p:ph idx="1" type="body"/>
          </p:nvPr>
        </p:nvSpPr>
        <p:spPr>
          <a:xfrm>
            <a:off x="920203" y="619111"/>
            <a:ext cx="73035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Reviewed literature: Cong et al. (2021), Ganne (2019), OECD (2021), WEF (2023), Katten (2025).</a:t>
            </a:r>
            <a:endParaRPr sz="1900"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Case studies: MakerDAO, Centrifuge, Goldfinch, Maple Finance.</a:t>
            </a:r>
            <a:endParaRPr sz="1900">
              <a:highlight>
                <a:srgbClr val="FFFFFF"/>
              </a:highlight>
            </a:endParaRPr>
          </a:p>
          <a:p>
            <a:pPr indent="-196850" lvl="0" marL="74295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highlight>
                  <a:srgbClr val="FFFFFF"/>
                </a:highlight>
              </a:rPr>
              <a:t>Gaps Identified:</a:t>
            </a:r>
            <a:endParaRPr b="1" sz="1900"/>
          </a:p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Fragmented jurisdictional regulations.</a:t>
            </a:r>
            <a:endParaRPr sz="1900"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Lack of unified standards (ERC-1400, ERC-3643, MiCA).</a:t>
            </a:r>
            <a:endParaRPr sz="1900"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Compliance usually off-chain </a:t>
            </a:r>
            <a:r>
              <a:rPr lang="en-US" sz="1900">
                <a:highlight>
                  <a:srgbClr val="FFFFFF"/>
                </a:highlight>
              </a:rPr>
              <a:t>→</a:t>
            </a:r>
            <a:r>
              <a:rPr lang="en-US" sz="1900">
                <a:highlight>
                  <a:srgbClr val="FFFFFF"/>
                </a:highlight>
              </a:rPr>
              <a:t> should be protocol-native.</a:t>
            </a:r>
            <a:endParaRPr sz="1900">
              <a:solidFill>
                <a:srgbClr val="212121"/>
              </a:solidFill>
            </a:endParaRPr>
          </a:p>
        </p:txBody>
      </p:sp>
      <p:sp>
        <p:nvSpPr>
          <p:cNvPr id="80" name="Google Shape;80;g3a0db582656_0_1"/>
          <p:cNvSpPr txBox="1"/>
          <p:nvPr>
            <p:ph type="title"/>
          </p:nvPr>
        </p:nvSpPr>
        <p:spPr>
          <a:xfrm>
            <a:off x="222637" y="196852"/>
            <a:ext cx="881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251D"/>
              </a:buClr>
              <a:buSzPts val="2000"/>
              <a:buFont typeface="Arial"/>
              <a:buNone/>
            </a:pPr>
            <a:r>
              <a:rPr lang="en-US" sz="2000"/>
              <a:t>Literature and Gap (Why Compliance Matters?)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g3a0db582656_0_36" title="Screen Shot 2025-11-06 at 4.30.3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775" y="671575"/>
            <a:ext cx="8839199" cy="4062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c0caa9c20b71469_13"/>
          <p:cNvSpPr txBox="1"/>
          <p:nvPr>
            <p:ph idx="1" type="body"/>
          </p:nvPr>
        </p:nvSpPr>
        <p:spPr>
          <a:xfrm>
            <a:off x="457200" y="973185"/>
            <a:ext cx="8229600" cy="349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55000"/>
              <a:buAutoNum type="arabicPeriod"/>
            </a:pPr>
            <a:r>
              <a:rPr lang="en-US"/>
              <a:t>Technical Infrastructure</a:t>
            </a:r>
            <a:br>
              <a:rPr lang="en-US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AutoNum type="arabicPeriod"/>
            </a:pPr>
            <a:r>
              <a:rPr lang="en-US"/>
              <a:t>Legal and Regulatory Frameworks</a:t>
            </a:r>
            <a:br>
              <a:rPr lang="en-US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AutoNum type="arabicPeriod"/>
            </a:pPr>
            <a:r>
              <a:rPr lang="en-US"/>
              <a:t>Compliance and Standards</a:t>
            </a:r>
            <a:br>
              <a:rPr lang="en-US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AutoNum type="arabicPeriod"/>
            </a:pPr>
            <a:r>
              <a:rPr lang="en-US"/>
              <a:t>DeFi Integration Models</a:t>
            </a:r>
            <a:br>
              <a:rPr lang="en-US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55000"/>
              <a:buAutoNum type="arabicPeriod"/>
            </a:pPr>
            <a:r>
              <a:rPr lang="en-US"/>
              <a:t>Institutional Adoption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2c0caa9c20b71469_13"/>
          <p:cNvSpPr txBox="1"/>
          <p:nvPr>
            <p:ph type="title"/>
          </p:nvPr>
        </p:nvSpPr>
        <p:spPr>
          <a:xfrm>
            <a:off x="457200" y="455816"/>
            <a:ext cx="8229600" cy="34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Phase 1 - </a:t>
            </a:r>
            <a:r>
              <a:rPr lang="en-US"/>
              <a:t>Five focus pillars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0db582656_0_8"/>
          <p:cNvSpPr txBox="1"/>
          <p:nvPr>
            <p:ph idx="1" type="body"/>
          </p:nvPr>
        </p:nvSpPr>
        <p:spPr>
          <a:xfrm>
            <a:off x="920203" y="619111"/>
            <a:ext cx="73035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</a:rPr>
              <a:t>Concept: Compliance logic embedded directly at protocol level.</a:t>
            </a:r>
            <a:endParaRPr sz="1900"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highlight>
                  <a:srgbClr val="FFFFFF"/>
                </a:highlight>
              </a:rPr>
              <a:t>Structure layers:</a:t>
            </a:r>
            <a:endParaRPr b="1" sz="1900"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</a:rPr>
              <a:t>Real-World Asset</a:t>
            </a:r>
            <a:endParaRPr sz="1900"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</a:rPr>
              <a:t>Legal Wrapper / SPV</a:t>
            </a:r>
            <a:endParaRPr sz="1900"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</a:rPr>
              <a:t>Smart Contract Layer</a:t>
            </a:r>
            <a:endParaRPr sz="1900">
              <a:highlight>
                <a:srgbClr val="FFFFFF"/>
              </a:highlight>
            </a:endParaRPr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highlight>
                  <a:srgbClr val="FFFFFF"/>
                </a:highlight>
              </a:rPr>
              <a:t>Protocol-Level Compliance Engine</a:t>
            </a:r>
            <a:endParaRPr b="1" sz="1900">
              <a:highlight>
                <a:srgbClr val="FFFFFF"/>
              </a:highlight>
            </a:endParaRPr>
          </a:p>
          <a:p>
            <a:pPr indent="0" lvl="0" marL="3429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highlight>
                  <a:srgbClr val="FFFFFF"/>
                </a:highlight>
              </a:rPr>
              <a:t>DeFi &amp; Institutional Integration</a:t>
            </a:r>
            <a:endParaRPr sz="1900">
              <a:solidFill>
                <a:srgbClr val="212121"/>
              </a:solidFill>
            </a:endParaRPr>
          </a:p>
          <a:p>
            <a:pPr indent="-241300" lvl="0" marL="34290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1" marL="74295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a0db582656_0_8"/>
          <p:cNvSpPr txBox="1"/>
          <p:nvPr>
            <p:ph type="title"/>
          </p:nvPr>
        </p:nvSpPr>
        <p:spPr>
          <a:xfrm>
            <a:off x="222637" y="196852"/>
            <a:ext cx="881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251D"/>
              </a:buClr>
              <a:buSzPts val="2000"/>
              <a:buFont typeface="Arial"/>
              <a:buNone/>
            </a:pPr>
            <a:r>
              <a:rPr lang="en-US" sz="2000"/>
              <a:t>Research Direction: Composable Compliance Architecture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g3a0db582656_0_43" title="Screen Shot 2025-11-06 at 4.31.2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25" y="1214900"/>
            <a:ext cx="8839199" cy="31708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0db582656_0_14"/>
          <p:cNvSpPr txBox="1"/>
          <p:nvPr>
            <p:ph idx="1" type="body"/>
          </p:nvPr>
        </p:nvSpPr>
        <p:spPr>
          <a:xfrm>
            <a:off x="920203" y="619111"/>
            <a:ext cx="7303500" cy="40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80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Standards + Regulation alignment (MiCA, ISO, FATF).</a:t>
            </a:r>
            <a:endParaRPr sz="1900"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Institutional infrastructure (MakerDAO RWA Foundation, Fireblocks, Anchorage).</a:t>
            </a:r>
            <a:endParaRPr sz="1900"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Emerging tech: ZK proofs, cross-chain compliance, real-time auditing.</a:t>
            </a:r>
            <a:endParaRPr sz="1900">
              <a:highlight>
                <a:srgbClr val="FFFFFF"/>
              </a:highlight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➢"/>
            </a:pPr>
            <a:r>
              <a:rPr lang="en-US" sz="1900">
                <a:highlight>
                  <a:srgbClr val="FFFFFF"/>
                </a:highlight>
              </a:rPr>
              <a:t>Future Work: Further Research - Develop compliance-aware Solution </a:t>
            </a:r>
            <a:endParaRPr sz="1900">
              <a:solidFill>
                <a:srgbClr val="212121"/>
              </a:solidFill>
            </a:endParaRPr>
          </a:p>
        </p:txBody>
      </p:sp>
      <p:sp>
        <p:nvSpPr>
          <p:cNvPr id="113" name="Google Shape;113;g3a0db582656_0_14"/>
          <p:cNvSpPr txBox="1"/>
          <p:nvPr>
            <p:ph type="title"/>
          </p:nvPr>
        </p:nvSpPr>
        <p:spPr>
          <a:xfrm>
            <a:off x="222637" y="196852"/>
            <a:ext cx="8816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251D"/>
              </a:buClr>
              <a:buSzPts val="2000"/>
              <a:buFont typeface="Arial"/>
              <a:buNone/>
            </a:pPr>
            <a:r>
              <a:rPr lang="en-US" sz="2000"/>
              <a:t>Key Findings and Future Work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a0db582656_0_50" title="Screen Shot 2025-11-06 at 4.34.27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2264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0db582656_0_58"/>
          <p:cNvSpPr txBox="1"/>
          <p:nvPr>
            <p:ph type="title"/>
          </p:nvPr>
        </p:nvSpPr>
        <p:spPr>
          <a:xfrm>
            <a:off x="457200" y="455816"/>
            <a:ext cx="8229600" cy="34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youts">
  <a:themeElements>
    <a:clrScheme name="Custom 5">
      <a:dk1>
        <a:srgbClr val="000000"/>
      </a:dk1>
      <a:lt1>
        <a:srgbClr val="FFFFFF"/>
      </a:lt1>
      <a:dk2>
        <a:srgbClr val="ED2223"/>
      </a:dk2>
      <a:lt2>
        <a:srgbClr val="FEFFFF"/>
      </a:lt2>
      <a:accent1>
        <a:srgbClr val="ED2223"/>
      </a:accent1>
      <a:accent2>
        <a:srgbClr val="ED2223"/>
      </a:accent2>
      <a:accent3>
        <a:srgbClr val="ED2223"/>
      </a:accent3>
      <a:accent4>
        <a:srgbClr val="ED2223"/>
      </a:accent4>
      <a:accent5>
        <a:srgbClr val="ED2223"/>
      </a:accent5>
      <a:accent6>
        <a:srgbClr val="ED2223"/>
      </a:accent6>
      <a:hlink>
        <a:srgbClr val="C0C0C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2015-06-09T05:37:39Z</dcterms:created>
  <dc:creator>Elise Appleton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0x01010042F0EEFC51374E449569A1D7EE9E03E1</vt:lpwstr>
  </property>
</Properties>
</file>